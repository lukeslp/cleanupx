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svg" ContentType="image/svg+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10"/>
  </p:notesMasterIdLst>
  <p:sldSz cx="12192000" cy="6858000" type="custom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ype="http://schemas.openxmlformats.org/officeDocument/2006/relationships/presProps" Target="presProps.xml"/>  <Relationship Id="rId7" Type="http://schemas.openxmlformats.org/officeDocument/2006/relationships/viewProps" Target="viewProps.xml"/>  <Relationship Id="rId8" Type="http://schemas.openxmlformats.org/officeDocument/2006/relationships/theme" Target="theme/theme1.xml"/>  <Relationship Id="rId9" Type="http://schemas.openxmlformats.org/officeDocument/2006/relationships/tableStyles" Target="tableStyles.xml"/>  <Relationship Id="rId10" Type="http://schemas.openxmlformats.org/officeDocument/2006/relationships/notesMaster" Target="notesMasters/notesMaster1.xml"/></Relationships>
</file>

<file path=ppt/notesMasters/_rels/notesMaster1.xml.rels><?xml version="1.0" encoding="UTF-8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/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/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media/image1.png" Type="http://schemas.openxmlformats.org/officeDocument/2006/relationships/image"/><Relationship Id="rId2" Target="../media/image2.svg" Type="http://schemas.openxmlformats.org/officeDocument/2006/relationships/image"/><Relationship Id="rId3" Target="../slideLayouts/slideLayout1.xml" Type="http://schemas.openxmlformats.org/officeDocument/2006/relationships/slideLayout"/><Relationship Id="rId4" Target="../notesSlides/notesSlide1.xml" Type="http://schemas.openxmlformats.org/officeDocument/2006/relationships/notesSlide"/></Relationships>
</file>

<file path=ppt/slides/_rels/slide2.xml.rels><?xml version="1.0" encoding="UTF-8" standalone="yes"?><Relationships xmlns="http://schemas.openxmlformats.org/package/2006/relationships"><Relationship Id="rId1" Target="../media/image3.png" Type="http://schemas.openxmlformats.org/officeDocument/2006/relationships/image"/><Relationship Id="rId2" Target="../media/image4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slideLayouts/slideLayout1.xml" Type="http://schemas.openxmlformats.org/officeDocument/2006/relationships/slideLayout"/><Relationship Id="rId10" Target="../notesSlides/notesSlide2.xml" Type="http://schemas.openxmlformats.org/officeDocument/2006/relationships/notesSlide"/></Relationships>
</file>

<file path=ppt/slides/_rels/slide3.xml.rels><?xml version="1.0" encoding="UTF-8" standalone="yes"?><Relationships xmlns="http://schemas.openxmlformats.org/package/2006/relationships"><Relationship Id="rId1" Target="../media/image11.png" Type="http://schemas.openxmlformats.org/officeDocument/2006/relationships/image"/><Relationship Id="rId2" Target="../media/image12.svg" Type="http://schemas.openxmlformats.org/officeDocument/2006/relationships/image"/><Relationship Id="rId3" Target="../media/image13.png" Type="http://schemas.openxmlformats.org/officeDocument/2006/relationships/image"/><Relationship Id="rId4" Target="../slideLayouts/slideLayout1.xml" Type="http://schemas.openxmlformats.org/officeDocument/2006/relationships/slideLayout"/><Relationship Id="rId5" Target="../notesSlides/notesSlide3.xml" Type="http://schemas.openxmlformats.org/officeDocument/2006/relationships/notesSlide"/></Relationships>
</file>

<file path=ppt/slides/_rels/slide4.xml.rels><?xml version="1.0" encoding="UTF-8" standalone="yes"?><Relationships xmlns="http://schemas.openxmlformats.org/package/2006/relationships"><Relationship Id="rId1" Target="../media/image14.png" Type="http://schemas.openxmlformats.org/officeDocument/2006/relationships/image"/><Relationship Id="rId2" Target="../media/image15.sv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slideLayouts/slideLayout1.xml" Type="http://schemas.openxmlformats.org/officeDocument/2006/relationships/slideLayout"/><Relationship Id="rId7" Target="../notesSlides/notesSlide4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905" y="4093232"/>
            <a:ext cx="961784" cy="47613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380905" y="2094083"/>
            <a:ext cx="11436665" cy="1919700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7560"/>
              </a:lnSpc>
              <a:buNone/>
            </a:pPr>
            <a:r>
              <a:rPr lang="en-US" sz="6750" dirty="0" smtClean="0">
                <a:solidFill>
                  <a:srgbClr val="ffffff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Outstanding Needs for Clinical and Payer Channels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380905" y="4368799"/>
            <a:ext cx="11436665" cy="300855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2370"/>
              </a:lnSpc>
              <a:spcBef>
                <a:spcPts val="2741"/>
              </a:spcBef>
              <a:buNone/>
            </a:pPr>
            <a:r>
              <a:rPr lang="en-US" sz="1782" spc="53" kern="0" dirty="0" smtClean="0">
                <a:solidFill>
                  <a:srgbClr val="ffffff">
                    <a:alpha val="5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Brief Exemplar Addition </a:t>
            </a:r>
            <a:endParaRPr lang="en-US" dirty="0"/>
          </a:p>
        </p:txBody>
      </p:sp>
    </p:spTree>
    <p:custDataLst/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132" y="973908"/>
            <a:ext cx="380905" cy="47613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476131" y="394742"/>
            <a:ext cx="12188952" cy="479851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3780"/>
              </a:lnSpc>
              <a:buNone/>
            </a:pPr>
            <a:r>
              <a:rPr lang="en-US" sz="3375" dirty="0" smtClean="0">
                <a:solidFill>
                  <a:srgbClr val="ffffff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Important Topics to Cover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1476006" y="2275430"/>
            <a:ext cx="1428393" cy="1428393"/>
          </a:xfrm>
          <a:prstGeom prst="roundRect">
            <a:avLst>
              <a:gd name="adj" fmla="val 6402"/>
            </a:avLst>
          </a:prstGeom>
          <a:noFill/>
          <a:ln w="50800">
            <a:solidFill>
              <a:srgbClr val="00a0b0"/>
            </a:solidFill>
            <a:prstDash val="solid"/>
            <a:miter lim="800000"/>
          </a:ln>
        </p:spPr>
      </p:sp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5857" y="2688201"/>
            <a:ext cx="485654" cy="61897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917504" y="3803364"/>
            <a:ext cx="2545396" cy="255920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ctr">
              <a:lnSpc>
                <a:spcPts val="2016"/>
              </a:lnSpc>
              <a:buNone/>
            </a:pPr>
            <a:r>
              <a:rPr lang="en-US" sz="1800" dirty="0" smtClean="0">
                <a:solidFill>
                  <a:srgbClr val="ffffff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Goals</a:t>
            </a:r>
            <a:endParaRPr lang="en-US" dirty="0"/>
          </a:p>
        </p:txBody>
      </p:sp>
      <p:sp>
        <p:nvSpPr>
          <p:cNvPr id="7" name="Object 6"/>
          <p:cNvSpPr/>
          <p:nvPr/>
        </p:nvSpPr>
        <p:spPr>
          <a:xfrm>
            <a:off x="917504" y="4147666"/>
            <a:ext cx="2545396" cy="222740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ctr">
              <a:lnSpc>
                <a:spcPts val="1756"/>
              </a:lnSpc>
              <a:spcBef>
                <a:spcPts val="683"/>
              </a:spcBef>
              <a:buNone/>
            </a:pPr>
            <a:r>
              <a:rPr lang="en-US" sz="1320" spc="40" kern="0" dirty="0" smtClean="0">
                <a:solidFill>
                  <a:srgbClr val="ffffff">
                    <a:alpha val="5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Outline the goals of the project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5380280" y="2275430"/>
            <a:ext cx="1428393" cy="1428393"/>
          </a:xfrm>
          <a:prstGeom prst="roundRect">
            <a:avLst>
              <a:gd name="adj" fmla="val 6402"/>
            </a:avLst>
          </a:prstGeom>
          <a:noFill/>
          <a:ln w="50800">
            <a:solidFill>
              <a:srgbClr val="00a0b0"/>
            </a:solidFill>
            <a:prstDash val="solid"/>
            <a:miter lim="800000"/>
          </a:ln>
        </p:spPr>
      </p:sp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9908" y="2746791"/>
            <a:ext cx="561835" cy="485654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4287559" y="3803364"/>
            <a:ext cx="3613834" cy="255920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ctr">
              <a:lnSpc>
                <a:spcPts val="2016"/>
              </a:lnSpc>
              <a:buNone/>
            </a:pPr>
            <a:r>
              <a:rPr lang="en-US" sz="1800" dirty="0" smtClean="0">
                <a:solidFill>
                  <a:srgbClr val="ffffff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Timeline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4287559" y="4147666"/>
            <a:ext cx="3613834" cy="222740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ctr">
              <a:lnSpc>
                <a:spcPts val="1756"/>
              </a:lnSpc>
              <a:spcBef>
                <a:spcPts val="683"/>
              </a:spcBef>
              <a:buNone/>
            </a:pPr>
            <a:r>
              <a:rPr lang="en-US" sz="1320" spc="40" kern="0" dirty="0" smtClean="0">
                <a:solidFill>
                  <a:srgbClr val="ffffff">
                    <a:alpha val="5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Provide an estimated timeline for completion</a:t>
            </a:r>
            <a:endParaRPr lang="en-US" dirty="0"/>
          </a:p>
        </p:txBody>
      </p:sp>
      <p:sp>
        <p:nvSpPr>
          <p:cNvPr id="12" name="Object 11"/>
          <p:cNvSpPr/>
          <p:nvPr/>
        </p:nvSpPr>
        <p:spPr>
          <a:xfrm>
            <a:off x="9284553" y="2275430"/>
            <a:ext cx="1428393" cy="1428393"/>
          </a:xfrm>
          <a:prstGeom prst="roundRect">
            <a:avLst>
              <a:gd name="adj" fmla="val 6402"/>
            </a:avLst>
          </a:prstGeom>
          <a:noFill/>
          <a:ln w="50800">
            <a:solidFill>
              <a:srgbClr val="00a0b0"/>
            </a:solidFill>
            <a:prstDash val="solid"/>
            <a:miter lim="800000"/>
          </a:ln>
        </p:spPr>
      </p:sp>
      <p:pic>
        <p:nvPicPr>
          <p:cNvPr id="13" name="Object 1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9074" y="2738426"/>
            <a:ext cx="628493" cy="485654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8128983" y="3803364"/>
            <a:ext cx="3739532" cy="255920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ctr">
              <a:lnSpc>
                <a:spcPts val="2016"/>
              </a:lnSpc>
              <a:buNone/>
            </a:pPr>
            <a:r>
              <a:rPr lang="en-US" sz="1800" dirty="0" smtClean="0">
                <a:solidFill>
                  <a:srgbClr val="ffffff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Resources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8128983" y="4147666"/>
            <a:ext cx="3739532" cy="445480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ctr">
              <a:lnSpc>
                <a:spcPts val="1756"/>
              </a:lnSpc>
              <a:spcBef>
                <a:spcPts val="683"/>
              </a:spcBef>
              <a:buNone/>
            </a:pPr>
            <a:r>
              <a:rPr lang="en-US" sz="1320" spc="40" kern="0" dirty="0" smtClean="0">
                <a:solidFill>
                  <a:srgbClr val="ffffff">
                    <a:alpha val="5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Identify the resources needed to complete the project</a:t>
            </a:r>
            <a:endParaRPr lang="en-US" dirty="0"/>
          </a:p>
        </p:txBody>
      </p:sp>
      <p:sp>
        <p:nvSpPr>
          <p:cNvPr id="16" name="Object 15"/>
          <p:cNvSpPr/>
          <p:nvPr/>
        </p:nvSpPr>
        <p:spPr>
          <a:xfrm>
            <a:off x="0" y="5884978"/>
            <a:ext cx="12188952" cy="971307"/>
          </a:xfrm>
          <a:prstGeom prst="rect">
            <a:avLst/>
          </a:prstGeom>
          <a:solidFill>
            <a:srgbClr val="97aa0f"/>
          </a:solidFill>
        </p:spPr>
      </p:sp>
      <p:sp>
        <p:nvSpPr>
          <p:cNvPr id="17" name="Object 16"/>
          <p:cNvSpPr/>
          <p:nvPr/>
        </p:nvSpPr>
        <p:spPr>
          <a:xfrm>
            <a:off x="-95226" y="6211723"/>
            <a:ext cx="12379404" cy="319900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ctr">
              <a:lnSpc>
                <a:spcPts val="2520"/>
              </a:lnSpc>
              <a:buNone/>
            </a:pPr>
            <a:r>
              <a:rPr lang="en-US" sz="2250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By covering these topics, we can ensure that the project is completed on time and within budget.</a:t>
            </a:r>
            <a:endParaRPr lang="en-US" dirty="0"/>
          </a:p>
        </p:txBody>
      </p:sp>
    </p:spTree>
    <p:custDataLst/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132" y="973908"/>
            <a:ext cx="380905" cy="47613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476131" y="394742"/>
            <a:ext cx="12188952" cy="479851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3780"/>
              </a:lnSpc>
              <a:buNone/>
            </a:pPr>
            <a:r>
              <a:rPr lang="en-US" sz="3375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Navigating the Complexities of Healthcare Policies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2237815" y="1691902"/>
            <a:ext cx="8484653" cy="4157367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 marL="242900" indent="-242900">
              <a:lnSpc>
                <a:spcPts val="3024"/>
              </a:lnSpc>
              <a:buSzPct val="100000"/>
              <a:buFont typeface="+mj-lt"/>
              <a:buAutoNum type="arabicPeriod"/>
            </a:pPr>
            <a:r>
              <a:rPr lang="en-US" sz="2700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email temperature check</a:t>
            </a:r>
          </a:p>
          <a:p>
            <a:pPr algn="l" marL="242900" indent="-242900">
              <a:lnSpc>
                <a:spcPts val="3024"/>
              </a:lnSpc>
              <a:spcBef>
                <a:spcPts val="2564"/>
              </a:spcBef>
              <a:buSzPct val="100000"/>
              <a:buFont typeface="+mj-lt"/>
              <a:buAutoNum type="arabicPeriod"/>
            </a:pPr>
            <a:r>
              <a:rPr lang="en-US" sz="2700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what these examples will be</a:t>
            </a:r>
          </a:p>
          <a:p>
            <a:pPr algn="l" marL="242900" indent="-242900">
              <a:lnSpc>
                <a:spcPts val="3024"/>
              </a:lnSpc>
              <a:spcBef>
                <a:spcPts val="2564"/>
              </a:spcBef>
              <a:buSzPct val="100000"/>
              <a:buFont typeface="+mj-lt"/>
              <a:buAutoNum type="arabicPeriod"/>
            </a:pPr>
            <a:r>
              <a:rPr lang="en-US" sz="2700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clinical needs as relate to:</a:t>
            </a:r>
          </a:p>
          <a:p>
            <a:pPr algn="l" lvl="1" marL="485800" indent="-242900">
              <a:lnSpc>
                <a:spcPts val="2019"/>
              </a:lnSpc>
              <a:spcBef>
                <a:spcPts val="423"/>
              </a:spcBef>
              <a:buSzPct val="100000"/>
              <a:buChar char="•"/>
            </a:pPr>
            <a:r>
              <a:rPr lang="en-US" sz="1518" spc="46" kern="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FDA requirements</a:t>
            </a:r>
          </a:p>
          <a:p>
            <a:pPr algn="l" lvl="1" marL="485800" indent="-242900">
              <a:lnSpc>
                <a:spcPts val="2019"/>
              </a:lnSpc>
              <a:spcBef>
                <a:spcPts val="533"/>
              </a:spcBef>
              <a:buSzPct val="100000"/>
              <a:buChar char="•"/>
            </a:pPr>
            <a:r>
              <a:rPr lang="en-US" sz="1518" spc="46" kern="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CMS requirements</a:t>
            </a:r>
          </a:p>
          <a:p>
            <a:pPr algn="l" lvl="1" marL="485800" indent="-242900">
              <a:lnSpc>
                <a:spcPts val="2019"/>
              </a:lnSpc>
              <a:spcBef>
                <a:spcPts val="533"/>
              </a:spcBef>
              <a:buSzPct val="100000"/>
              <a:buChar char="•"/>
            </a:pPr>
            <a:r>
              <a:rPr lang="en-US" sz="1518" spc="46" kern="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ASHA / Licensure requirements</a:t>
            </a:r>
          </a:p>
          <a:p>
            <a:pPr algn="l" lvl="1" marL="485800" indent="-242900">
              <a:lnSpc>
                <a:spcPts val="2019"/>
              </a:lnSpc>
              <a:spcBef>
                <a:spcPts val="533"/>
              </a:spcBef>
              <a:buSzPct val="100000"/>
              <a:buChar char="•"/>
            </a:pPr>
            <a:r>
              <a:rPr lang="en-US" sz="1518" spc="46" kern="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Other channel requirements</a:t>
            </a:r>
          </a:p>
          <a:p>
            <a:pPr algn="l" lvl="1" marL="485800" indent="-242900">
              <a:lnSpc>
                <a:spcPts val="2019"/>
              </a:lnSpc>
              <a:spcBef>
                <a:spcPts val="533"/>
              </a:spcBef>
              <a:buSzPct val="100000"/>
              <a:buChar char="•"/>
            </a:pPr>
            <a:r>
              <a:rPr lang="en-US" sz="1518" spc="46" kern="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Burdens on the manufacturer by each function</a:t>
            </a:r>
          </a:p>
          <a:p>
            <a:pPr algn="l" marL="242900" indent="-242900">
              <a:lnSpc>
                <a:spcPts val="3024"/>
              </a:lnSpc>
              <a:spcBef>
                <a:spcPts val="2674"/>
              </a:spcBef>
              <a:buSzPct val="100000"/>
              <a:buFont typeface="+mj-lt"/>
              <a:buAutoNum type="arabicPeriod"/>
            </a:pPr>
            <a:r>
              <a:rPr lang="en-US" sz="2700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other devils with details</a:t>
            </a:r>
            <a:endParaRPr lang="en-US" dirty="0"/>
          </a:p>
        </p:txBody>
      </p:sp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39" y="6513114"/>
            <a:ext cx="952262" cy="200332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961784" y="6557811"/>
            <a:ext cx="10265383" cy="122604"/>
          </a:xfrm>
          <a:prstGeom prst="rect">
            <a:avLst/>
          </a:prstGeom>
          <a:noFill/>
        </p:spPr>
        <p:txBody>
          <a:bodyPr wrap="square" rtlCol="0" anchor="ctr" bIns="0" lIns="0" rIns="0" tIns="0"/>
          <a:lstStyle/>
          <a:p>
            <a:pPr algn="ctr">
              <a:lnSpc>
                <a:spcPts val="965"/>
              </a:lnSpc>
              <a:buNone/>
            </a:pPr>
            <a:r>
              <a:rPr lang="en-US" sz="726" spc="22" kern="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©2022 Proprietary and Confidential. All Rights Reserved.</a:t>
            </a:r>
            <a:endParaRPr lang="en-US" dirty="0"/>
          </a:p>
        </p:txBody>
      </p:sp>
    </p:spTree>
    <p:custDataLst/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129" y="973908"/>
            <a:ext cx="390427" cy="47613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476131" y="394742"/>
            <a:ext cx="12188952" cy="479851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3780"/>
              </a:lnSpc>
              <a:buNone/>
            </a:pPr>
            <a:r>
              <a:rPr lang="en-US" sz="3375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define clinical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2237815" y="3100208"/>
            <a:ext cx="8484653" cy="2859761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 marL="242900" indent="-242900">
              <a:lnSpc>
                <a:spcPts val="1966"/>
              </a:lnSpc>
              <a:buSzPct val="100000"/>
              <a:buChar char="•"/>
            </a:pPr>
            <a:r>
              <a:rPr lang="en-US" sz="1755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FDA: So long as a device is cleared by the FDA an SLP does not need to consider anything here. I did my best to set up some prep, you all rocked it.</a:t>
            </a:r>
          </a:p>
          <a:p>
            <a:pPr algn="l" marL="242900" indent="-242900">
              <a:lnSpc>
                <a:spcPts val="1966"/>
              </a:lnSpc>
              <a:spcBef>
                <a:spcPts val="1666"/>
              </a:spcBef>
              <a:buSzPct val="100000"/>
              <a:buChar char="•"/>
            </a:pPr>
            <a:r>
              <a:rPr lang="en-US" sz="1755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CMS: The SLP needs to evaluate and document both compliance with every CMS requirement</a:t>
            </a:r>
          </a:p>
          <a:p>
            <a:pPr algn="l" marL="242900" indent="-242900">
              <a:lnSpc>
                <a:spcPts val="1966"/>
              </a:lnSpc>
              <a:spcBef>
                <a:spcPts val="1666"/>
              </a:spcBef>
              <a:buSzPct val="100000"/>
              <a:buChar char="•"/>
            </a:pPr>
            <a:r>
              <a:rPr lang="en-US" sz="1755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ASHA: Where the devil lives with most of his details</a:t>
            </a:r>
          </a:p>
          <a:p>
            <a:pPr algn="l" marL="242900" indent="-242900">
              <a:lnSpc>
                <a:spcPts val="1966"/>
              </a:lnSpc>
              <a:spcBef>
                <a:spcPts val="1666"/>
              </a:spcBef>
              <a:buSzPct val="100000"/>
              <a:buChar char="•"/>
            </a:pPr>
            <a:r>
              <a:rPr lang="en-US" sz="1755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Other payers: Feasibility of channels based on addition or reduction (VA) based on other requirements</a:t>
            </a:r>
          </a:p>
          <a:p>
            <a:pPr algn="l" marL="242900" indent="-242900">
              <a:lnSpc>
                <a:spcPts val="1966"/>
              </a:lnSpc>
              <a:spcBef>
                <a:spcPts val="1666"/>
              </a:spcBef>
              <a:buSzPct val="100000"/>
              <a:buChar char="•"/>
            </a:pPr>
            <a:r>
              <a:rPr lang="en-US" sz="1755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Subsequent ongoing burdens on the provider and the DME manufacturer </a:t>
            </a:r>
            <a:endParaRPr lang="en-US" dirty="0"/>
          </a:p>
        </p:txBody>
      </p:sp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7816" y="2713946"/>
            <a:ext cx="7713321" cy="9523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2237815" y="1574208"/>
            <a:ext cx="8484653" cy="959701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2520"/>
              </a:lnSpc>
              <a:buNone/>
            </a:pPr>
            <a:r>
              <a:rPr lang="en-US" sz="225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Anything that Speech Pathologists </a:t>
            </a:r>
            <a:r>
              <a:rPr lang="en-US" sz="2250" i="1" dirty="0" smtClean="0">
                <a:solidFill>
                  <a:srgbClr val="333333"/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specifically</a:t>
            </a:r>
            <a:r>
              <a:rPr lang="en-US" sz="225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 need to consider and document in the course of the SGD funding process</a:t>
            </a:r>
            <a:endParaRPr lang="en-US" dirty="0"/>
          </a:p>
        </p:txBody>
      </p:sp>
      <p:pic>
        <p:nvPicPr>
          <p:cNvPr id="7" name="Object 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39" y="6513114"/>
            <a:ext cx="952262" cy="200332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961784" y="6557811"/>
            <a:ext cx="10265383" cy="122604"/>
          </a:xfrm>
          <a:prstGeom prst="rect">
            <a:avLst/>
          </a:prstGeom>
          <a:noFill/>
        </p:spPr>
        <p:txBody>
          <a:bodyPr wrap="square" rtlCol="0" anchor="ctr" bIns="0" lIns="0" rIns="0" tIns="0"/>
          <a:lstStyle/>
          <a:p>
            <a:pPr algn="ctr">
              <a:lnSpc>
                <a:spcPts val="965"/>
              </a:lnSpc>
              <a:buNone/>
            </a:pPr>
            <a:r>
              <a:rPr lang="en-US" sz="726" spc="22" kern="0" dirty="0" smtClean="0">
                <a:solidFill>
                  <a:srgbClr val="000000">
                    <a:alpha val="60000"/>
                  </a:srgbClr>
                </a:solidFill>
                <a:latin typeface="Jost*" pitchFamily="34" charset="0"/>
                <a:ea typeface="Jost*" pitchFamily="34" charset="-122"/>
                <a:cs typeface="Jost*" pitchFamily="34" charset="-120"/>
              </a:rPr>
              <a:t>©2022 Proprietary and Confidential. All Rights Reserved.</a:t>
            </a:r>
            <a:endParaRPr lang="en-US" dirty="0"/>
          </a:p>
        </p:txBody>
      </p:sp>
    </p:spTree>
    <p:custDataLst/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Company>Beautiful.ai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Needs 5-4 Brief</dc:title>
  <dc:subject>Clinical Needs 5-4 Brief</dc:subject>
  <dc:creator>Luke Steuber</dc:creator>
  <cp:lastModifiedBy>Luke Steuber</cp:lastModifiedBy>
  <cp:revision>1</cp:revision>
  <dcterms:created xsi:type="dcterms:W3CDTF">2023-10-17T04:05:56.113Z</dcterms:created>
  <dcterms:modified xsi:type="dcterms:W3CDTF">2023-10-17T04:05:56.113Z</dcterms:modified>
</cp:coreProperties>
</file>